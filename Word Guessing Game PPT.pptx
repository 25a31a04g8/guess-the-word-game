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8" r:id="rId9"/>
    <p:sldId id="269" r:id="rId10"/>
    <p:sldId id="2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6078CC-6935-4146-979A-F9EEA4945A2E}" v="4" dt="2025-12-22T13:57:07.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A02DC9-8A47-44B9-A726-C0B218E7E226}" type="datetimeFigureOut">
              <a:rPr lang="en-IN" smtClean="0"/>
              <a:t>22-12-2025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DC0368-E4C6-4CA1-B011-AA3CB85BFCC8}" type="slidenum">
              <a:rPr lang="en-IN" smtClean="0"/>
              <a:t>‹#›</a:t>
            </a:fld>
            <a:endParaRPr lang="en-IN"/>
          </a:p>
        </p:txBody>
      </p:sp>
    </p:spTree>
    <p:extLst>
      <p:ext uri="{BB962C8B-B14F-4D97-AF65-F5344CB8AC3E}">
        <p14:creationId xmlns:p14="http://schemas.microsoft.com/office/powerpoint/2010/main" val="3997154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introduces the Word Guessing Game, explaining its core concept and gameplay mechanics. It highlights the educational benefits such as vocabulary enhancement and strategic thinking. The game is versatile, allowing solo or group play, with adjustable difficulty and hints to keep players engaged.</a:t>
            </a:r>
          </a:p>
        </p:txBody>
      </p:sp>
      <p:sp>
        <p:nvSpPr>
          <p:cNvPr id="4" name="Slide Number Placeholder 3"/>
          <p:cNvSpPr>
            <a:spLocks noGrp="1"/>
          </p:cNvSpPr>
          <p:nvPr>
            <p:ph type="sldNum" sz="quarter" idx="5"/>
          </p:nvPr>
        </p:nvSpPr>
        <p:spPr/>
        <p:txBody>
          <a:bodyPr/>
          <a:lstStyle/>
          <a:p>
            <a:fld id="{774DB5CE-F978-4ECE-887B-E1ED01EEE191}" type="slidenum">
              <a:rPr lang="en-IN" smtClean="0"/>
              <a:t>1</a:t>
            </a:fld>
            <a:endParaRPr lang="en-IN"/>
          </a:p>
        </p:txBody>
      </p:sp>
    </p:spTree>
    <p:extLst>
      <p:ext uri="{BB962C8B-B14F-4D97-AF65-F5344CB8AC3E}">
        <p14:creationId xmlns:p14="http://schemas.microsoft.com/office/powerpoint/2010/main" val="19389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introduces the Word Guessing Game, highlighting its appeal as an exciting and educational activity suitable for players of all ages. The focus is on vocabulary skills and logical deduction, making it both fun and mentally stimulating.</a:t>
            </a:r>
          </a:p>
        </p:txBody>
      </p:sp>
      <p:sp>
        <p:nvSpPr>
          <p:cNvPr id="4" name="Slide Number Placeholder 3"/>
          <p:cNvSpPr>
            <a:spLocks noGrp="1"/>
          </p:cNvSpPr>
          <p:nvPr>
            <p:ph type="sldNum" sz="quarter" idx="5"/>
          </p:nvPr>
        </p:nvSpPr>
        <p:spPr/>
        <p:txBody>
          <a:bodyPr/>
          <a:lstStyle/>
          <a:p>
            <a:fld id="{2FDC0368-E4C6-4CA1-B011-AA3CB85BFCC8}" type="slidenum">
              <a:rPr lang="en-IN" smtClean="0"/>
              <a:t>2</a:t>
            </a:fld>
            <a:endParaRPr lang="en-IN"/>
          </a:p>
        </p:txBody>
      </p:sp>
    </p:spTree>
    <p:extLst>
      <p:ext uri="{BB962C8B-B14F-4D97-AF65-F5344CB8AC3E}">
        <p14:creationId xmlns:p14="http://schemas.microsoft.com/office/powerpoint/2010/main" val="2382767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explains the game mechanics, emphasizing the process of guessing letters, revealing correct guesses, and managing limited attempts. Understanding these rules is key to enjoying and succeeding in the game.</a:t>
            </a:r>
          </a:p>
        </p:txBody>
      </p:sp>
      <p:sp>
        <p:nvSpPr>
          <p:cNvPr id="4" name="Slide Number Placeholder 3"/>
          <p:cNvSpPr>
            <a:spLocks noGrp="1"/>
          </p:cNvSpPr>
          <p:nvPr>
            <p:ph type="sldNum" sz="quarter" idx="5"/>
          </p:nvPr>
        </p:nvSpPr>
        <p:spPr/>
        <p:txBody>
          <a:bodyPr/>
          <a:lstStyle/>
          <a:p>
            <a:fld id="{2FDC0368-E4C6-4CA1-B011-AA3CB85BFCC8}" type="slidenum">
              <a:rPr lang="en-IN" smtClean="0"/>
              <a:t>3</a:t>
            </a:fld>
            <a:endParaRPr lang="en-IN"/>
          </a:p>
        </p:txBody>
      </p:sp>
    </p:spTree>
    <p:extLst>
      <p:ext uri="{BB962C8B-B14F-4D97-AF65-F5344CB8AC3E}">
        <p14:creationId xmlns:p14="http://schemas.microsoft.com/office/powerpoint/2010/main" val="4213304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Here, the slide explores the educational and social benefits of the Word Guessing Game. It fosters language development, cognitive skills, and provides an enjoyable platform for friendly competition.</a:t>
            </a:r>
          </a:p>
        </p:txBody>
      </p:sp>
      <p:sp>
        <p:nvSpPr>
          <p:cNvPr id="4" name="Slide Number Placeholder 3"/>
          <p:cNvSpPr>
            <a:spLocks noGrp="1"/>
          </p:cNvSpPr>
          <p:nvPr>
            <p:ph type="sldNum" sz="quarter" idx="5"/>
          </p:nvPr>
        </p:nvSpPr>
        <p:spPr/>
        <p:txBody>
          <a:bodyPr/>
          <a:lstStyle/>
          <a:p>
            <a:fld id="{2FDC0368-E4C6-4CA1-B011-AA3CB85BFCC8}" type="slidenum">
              <a:rPr lang="en-IN" smtClean="0"/>
              <a:t>4</a:t>
            </a:fld>
            <a:endParaRPr lang="en-IN"/>
          </a:p>
        </p:txBody>
      </p:sp>
    </p:spTree>
    <p:extLst>
      <p:ext uri="{BB962C8B-B14F-4D97-AF65-F5344CB8AC3E}">
        <p14:creationId xmlns:p14="http://schemas.microsoft.com/office/powerpoint/2010/main" val="1372025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guides new players on how to begin playing the Word Guessing Game, from selecting difficulty and mode to engaging in gameplay. It encourages continuous improvement and enjoyment.</a:t>
            </a:r>
          </a:p>
        </p:txBody>
      </p:sp>
      <p:sp>
        <p:nvSpPr>
          <p:cNvPr id="4" name="Slide Number Placeholder 3"/>
          <p:cNvSpPr>
            <a:spLocks noGrp="1"/>
          </p:cNvSpPr>
          <p:nvPr>
            <p:ph type="sldNum" sz="quarter" idx="5"/>
          </p:nvPr>
        </p:nvSpPr>
        <p:spPr/>
        <p:txBody>
          <a:bodyPr/>
          <a:lstStyle/>
          <a:p>
            <a:fld id="{2FDC0368-E4C6-4CA1-B011-AA3CB85BFCC8}" type="slidenum">
              <a:rPr lang="en-IN" smtClean="0"/>
              <a:t>5</a:t>
            </a:fld>
            <a:endParaRPr lang="en-IN"/>
          </a:p>
        </p:txBody>
      </p:sp>
    </p:spTree>
    <p:extLst>
      <p:ext uri="{BB962C8B-B14F-4D97-AF65-F5344CB8AC3E}">
        <p14:creationId xmlns:p14="http://schemas.microsoft.com/office/powerpoint/2010/main" val="1903141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Structures in C allow grouping different variables related to the word guessing game, such as the secret word, guessed characters, number of attempts, and the current game status. This helps keep the game data organized and makes the code easier to manage and understand.</a:t>
            </a:r>
          </a:p>
        </p:txBody>
      </p:sp>
      <p:sp>
        <p:nvSpPr>
          <p:cNvPr id="4" name="Slide Number Placeholder 3"/>
          <p:cNvSpPr>
            <a:spLocks noGrp="1"/>
          </p:cNvSpPr>
          <p:nvPr>
            <p:ph type="sldNum" sz="quarter" idx="5"/>
          </p:nvPr>
        </p:nvSpPr>
        <p:spPr/>
        <p:txBody>
          <a:bodyPr/>
          <a:lstStyle/>
          <a:p>
            <a:fld id="{2FDC0368-E4C6-4CA1-B011-AA3CB85BFCC8}" type="slidenum">
              <a:rPr lang="en-IN" smtClean="0"/>
              <a:t>6</a:t>
            </a:fld>
            <a:endParaRPr lang="en-IN"/>
          </a:p>
        </p:txBody>
      </p:sp>
    </p:spTree>
    <p:extLst>
      <p:ext uri="{BB962C8B-B14F-4D97-AF65-F5344CB8AC3E}">
        <p14:creationId xmlns:p14="http://schemas.microsoft.com/office/powerpoint/2010/main" val="2958318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Pointers in C are used in the word guessing game to dynamically allocate memory for words of varying length. They allow direct manipulation of characters in the word and facilitate passing data between functions without copying large amounts of memory.</a:t>
            </a:r>
          </a:p>
        </p:txBody>
      </p:sp>
      <p:sp>
        <p:nvSpPr>
          <p:cNvPr id="4" name="Slide Number Placeholder 3"/>
          <p:cNvSpPr>
            <a:spLocks noGrp="1"/>
          </p:cNvSpPr>
          <p:nvPr>
            <p:ph type="sldNum" sz="quarter" idx="5"/>
          </p:nvPr>
        </p:nvSpPr>
        <p:spPr/>
        <p:txBody>
          <a:bodyPr/>
          <a:lstStyle/>
          <a:p>
            <a:fld id="{2FDC0368-E4C6-4CA1-B011-AA3CB85BFCC8}" type="slidenum">
              <a:rPr lang="en-IN" smtClean="0"/>
              <a:t>7</a:t>
            </a:fld>
            <a:endParaRPr lang="en-IN"/>
          </a:p>
        </p:txBody>
      </p:sp>
    </p:spTree>
    <p:extLst>
      <p:ext uri="{BB962C8B-B14F-4D97-AF65-F5344CB8AC3E}">
        <p14:creationId xmlns:p14="http://schemas.microsoft.com/office/powerpoint/2010/main" val="626053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Loops are fundamental in the word guessing game C program as they manage repeated actions such as checking each letter of the secret word against player guesses. For loops traverse the word characters, while while loops maintain the game running as long as attempts remain. This repetition control ensures smooth gameplay and dynamic updates of the game state, making the program efficient and user-friendly.</a:t>
            </a:r>
          </a:p>
        </p:txBody>
      </p:sp>
      <p:sp>
        <p:nvSpPr>
          <p:cNvPr id="4" name="Slide Number Placeholder 3"/>
          <p:cNvSpPr>
            <a:spLocks noGrp="1"/>
          </p:cNvSpPr>
          <p:nvPr>
            <p:ph type="sldNum" sz="quarter" idx="5"/>
          </p:nvPr>
        </p:nvSpPr>
        <p:spPr/>
        <p:txBody>
          <a:bodyPr/>
          <a:lstStyle/>
          <a:p>
            <a:fld id="{2FDC0368-E4C6-4CA1-B011-AA3CB85BFCC8}" type="slidenum">
              <a:rPr lang="en-IN" smtClean="0"/>
              <a:t>8</a:t>
            </a:fld>
            <a:endParaRPr lang="en-IN"/>
          </a:p>
        </p:txBody>
      </p:sp>
    </p:spTree>
    <p:extLst>
      <p:ext uri="{BB962C8B-B14F-4D97-AF65-F5344CB8AC3E}">
        <p14:creationId xmlns:p14="http://schemas.microsoft.com/office/powerpoint/2010/main" val="1564096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Arrays are fundamental in word games as they hold the characters of the secret word and track guesses. By using arrays, the game can easily check which letters have been guessed and update the display accordingly. Arrays also allow handling words of different lengths and simplify processing player inputs for smooth gameplay.</a:t>
            </a:r>
          </a:p>
        </p:txBody>
      </p:sp>
      <p:sp>
        <p:nvSpPr>
          <p:cNvPr id="4" name="Slide Number Placeholder 3"/>
          <p:cNvSpPr>
            <a:spLocks noGrp="1"/>
          </p:cNvSpPr>
          <p:nvPr>
            <p:ph type="sldNum" sz="quarter" idx="5"/>
          </p:nvPr>
        </p:nvSpPr>
        <p:spPr/>
        <p:txBody>
          <a:bodyPr/>
          <a:lstStyle/>
          <a:p>
            <a:fld id="{2FDC0368-E4C6-4CA1-B011-AA3CB85BFCC8}" type="slidenum">
              <a:rPr lang="en-IN" smtClean="0"/>
              <a:t>9</a:t>
            </a:fld>
            <a:endParaRPr lang="en-IN"/>
          </a:p>
        </p:txBody>
      </p:sp>
    </p:spTree>
    <p:extLst>
      <p:ext uri="{BB962C8B-B14F-4D97-AF65-F5344CB8AC3E}">
        <p14:creationId xmlns:p14="http://schemas.microsoft.com/office/powerpoint/2010/main" val="3069547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83629-4F7E-F0D3-43DF-CF5AD10BA0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867ECC-97D0-906F-7BD5-53EF0835F2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0EFBD52-A975-127B-0080-0E05298CF0AF}"/>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5" name="Footer Placeholder 4">
            <a:extLst>
              <a:ext uri="{FF2B5EF4-FFF2-40B4-BE49-F238E27FC236}">
                <a16:creationId xmlns:a16="http://schemas.microsoft.com/office/drawing/2014/main" id="{77799AB2-F104-C16A-522F-727F2B387E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4B00EB-742D-941A-DBF6-410B219C19C0}"/>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324832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34CE8-0369-76E6-E5EA-084E8C2BDD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902AD2-D6AF-455B-BB4F-561F505B77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86BF85-4F72-4881-CC7E-43307712A5BC}"/>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5" name="Footer Placeholder 4">
            <a:extLst>
              <a:ext uri="{FF2B5EF4-FFF2-40B4-BE49-F238E27FC236}">
                <a16:creationId xmlns:a16="http://schemas.microsoft.com/office/drawing/2014/main" id="{1DDC3383-8CAF-A747-3981-DCB4AC2EA6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4DDB28-4554-4CC9-D76C-313A16BADA4D}"/>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2988242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75F0C-744B-9122-31CA-D2ABFC00C9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333045-7296-97F2-8A6D-7E9B1B7707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BA6F6A-E7B2-51CF-0684-B1FD45C6931D}"/>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5" name="Footer Placeholder 4">
            <a:extLst>
              <a:ext uri="{FF2B5EF4-FFF2-40B4-BE49-F238E27FC236}">
                <a16:creationId xmlns:a16="http://schemas.microsoft.com/office/drawing/2014/main" id="{3F539EC8-C7A1-FF68-3699-5077574B35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E57FAB-B046-D8F7-C656-50A74267F39D}"/>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1194522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8190-DC10-1546-789E-F6C8A27A45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649D76-8CFC-3F05-0541-F7C2C036D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6774C57-F05A-19DE-D44A-0F7FF0BBD7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4BAC46-14DC-56D6-6031-8E2E0A48A4E4}"/>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6" name="Footer Placeholder 5">
            <a:extLst>
              <a:ext uri="{FF2B5EF4-FFF2-40B4-BE49-F238E27FC236}">
                <a16:creationId xmlns:a16="http://schemas.microsoft.com/office/drawing/2014/main" id="{DE902275-FDB9-140C-CE6E-7E990896D1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C3D1E8-E641-1277-E87E-E9EF1570B7A1}"/>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4136324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708C7-2833-3DDD-AE7A-88FE2AD2F58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4EFC9C-B283-3944-FC27-6839ABCE42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F72AB6-B529-5A07-BDE7-BC7216DEF7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C1CC50-609C-7233-07B0-E259ECCB1F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DF9CD9-AAF1-B08A-1D98-847380B639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C5011F-0FF5-5415-DD46-875A6F740E37}"/>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8" name="Footer Placeholder 7">
            <a:extLst>
              <a:ext uri="{FF2B5EF4-FFF2-40B4-BE49-F238E27FC236}">
                <a16:creationId xmlns:a16="http://schemas.microsoft.com/office/drawing/2014/main" id="{32C7718E-0D5C-027F-37FA-A352EC5FC8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43F001-4E0A-3718-41F8-426AC551C7EC}"/>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2609633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9A3AA-2C5E-A96D-DAE5-1DC90BF884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A7A36C-E81C-C9DA-CAC2-C9EE1BFB95B4}"/>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4" name="Footer Placeholder 3">
            <a:extLst>
              <a:ext uri="{FF2B5EF4-FFF2-40B4-BE49-F238E27FC236}">
                <a16:creationId xmlns:a16="http://schemas.microsoft.com/office/drawing/2014/main" id="{36B344B1-346E-2262-4704-BFC634A919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626308-0CC8-24C8-CEF5-03737807B09A}"/>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3980945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176007-4D98-936E-D859-D574D8FCF4B3}"/>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3" name="Footer Placeholder 2">
            <a:extLst>
              <a:ext uri="{FF2B5EF4-FFF2-40B4-BE49-F238E27FC236}">
                <a16:creationId xmlns:a16="http://schemas.microsoft.com/office/drawing/2014/main" id="{D038CE0E-972F-50D0-D5FE-FBD7D5F5270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0CA84E2-8801-EBD0-3836-7D8FE827CDAD}"/>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351907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E27AE-8E70-7978-3306-6CDB9D4E17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8E24983-E030-2172-1F3F-78DFBF31C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52719F-1775-BD48-AFF5-8D1E15FA81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E1C6C6-AFAF-2E73-6853-CD98027B589E}"/>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6" name="Footer Placeholder 5">
            <a:extLst>
              <a:ext uri="{FF2B5EF4-FFF2-40B4-BE49-F238E27FC236}">
                <a16:creationId xmlns:a16="http://schemas.microsoft.com/office/drawing/2014/main" id="{84D96D4B-62C2-6FA4-4EC6-CF339CB6CD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E1D812-D8AB-2A3B-08D5-3C706D769DEE}"/>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3574934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E96D3-1120-37D3-744B-F3FAB5ACAE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D0AA60-22F1-0A2E-669F-B00F7CCC3B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BD7C4A-4DB8-4538-4C1F-6133965D83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099C2D-CB57-1E75-8B83-8893B012C428}"/>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6" name="Footer Placeholder 5">
            <a:extLst>
              <a:ext uri="{FF2B5EF4-FFF2-40B4-BE49-F238E27FC236}">
                <a16:creationId xmlns:a16="http://schemas.microsoft.com/office/drawing/2014/main" id="{A44EAE74-889B-3BE9-A47B-259C7BF89C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61CA5F-6016-31AF-338D-9C02190048CD}"/>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3828549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83FAF-2111-B27E-37C9-AB488EEDA4C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1AF9B9-85BD-B97B-761E-59512291F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820F15-5211-6020-CA6B-2FEC026DFE27}"/>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5" name="Footer Placeholder 4">
            <a:extLst>
              <a:ext uri="{FF2B5EF4-FFF2-40B4-BE49-F238E27FC236}">
                <a16:creationId xmlns:a16="http://schemas.microsoft.com/office/drawing/2014/main" id="{CCD69473-3700-FAE7-0CDD-CCDAC4029F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523C95-339D-1416-6858-E9CBAE0D983C}"/>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3499818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04E92E-CFFC-A57B-5C28-B1D749AD95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B485D1-2A83-AF5E-04E2-A89D8306CA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F0D08E-ADC2-9ED3-600C-54E7E1C76AD6}"/>
              </a:ext>
            </a:extLst>
          </p:cNvPr>
          <p:cNvSpPr>
            <a:spLocks noGrp="1"/>
          </p:cNvSpPr>
          <p:nvPr>
            <p:ph type="dt" sz="half" idx="10"/>
          </p:nvPr>
        </p:nvSpPr>
        <p:spPr/>
        <p:txBody>
          <a:bodyPr/>
          <a:lstStyle/>
          <a:p>
            <a:fld id="{1978DB0C-42D7-4633-B84F-CEE98F8F7FC6}" type="datetimeFigureOut">
              <a:rPr lang="en-IN" smtClean="0"/>
              <a:t>22-12-2025</a:t>
            </a:fld>
            <a:endParaRPr lang="en-IN"/>
          </a:p>
        </p:txBody>
      </p:sp>
      <p:sp>
        <p:nvSpPr>
          <p:cNvPr id="5" name="Footer Placeholder 4">
            <a:extLst>
              <a:ext uri="{FF2B5EF4-FFF2-40B4-BE49-F238E27FC236}">
                <a16:creationId xmlns:a16="http://schemas.microsoft.com/office/drawing/2014/main" id="{DB7562DC-5C85-CB9C-AACB-FC49252CB5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F22464-463E-09AD-F422-797076969ADC}"/>
              </a:ext>
            </a:extLst>
          </p:cNvPr>
          <p:cNvSpPr>
            <a:spLocks noGrp="1"/>
          </p:cNvSpPr>
          <p:nvPr>
            <p:ph type="sldNum" sz="quarter" idx="12"/>
          </p:nvPr>
        </p:nvSpPr>
        <p:spPr/>
        <p:txBody>
          <a:bodyPr/>
          <a:lstStyle/>
          <a:p>
            <a:fld id="{19729594-502D-4B92-AB31-69F1A79F78C1}" type="slidenum">
              <a:rPr lang="en-IN" smtClean="0"/>
              <a:t>‹#›</a:t>
            </a:fld>
            <a:endParaRPr lang="en-IN"/>
          </a:p>
        </p:txBody>
      </p:sp>
    </p:spTree>
    <p:extLst>
      <p:ext uri="{BB962C8B-B14F-4D97-AF65-F5344CB8AC3E}">
        <p14:creationId xmlns:p14="http://schemas.microsoft.com/office/powerpoint/2010/main" val="1465789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F03441-E002-17A2-7987-89CED89CEC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1AA801-3390-7997-D2B0-BC2FE7DAE0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49B3F7-DCA0-BD2A-4FFB-CA38DC930E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78DB0C-42D7-4633-B84F-CEE98F8F7FC6}" type="datetimeFigureOut">
              <a:rPr lang="en-IN" smtClean="0"/>
              <a:t>22-12-2025</a:t>
            </a:fld>
            <a:endParaRPr lang="en-IN"/>
          </a:p>
        </p:txBody>
      </p:sp>
      <p:sp>
        <p:nvSpPr>
          <p:cNvPr id="5" name="Footer Placeholder 4">
            <a:extLst>
              <a:ext uri="{FF2B5EF4-FFF2-40B4-BE49-F238E27FC236}">
                <a16:creationId xmlns:a16="http://schemas.microsoft.com/office/drawing/2014/main" id="{66890D96-11B7-9767-E307-ABA2C987F0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97A4FBD-5ECE-04E7-7F80-D58A14A195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729594-502D-4B92-AB31-69F1A79F78C1}" type="slidenum">
              <a:rPr lang="en-IN" smtClean="0"/>
              <a:t>‹#›</a:t>
            </a:fld>
            <a:endParaRPr lang="en-IN"/>
          </a:p>
        </p:txBody>
      </p:sp>
    </p:spTree>
    <p:extLst>
      <p:ext uri="{BB962C8B-B14F-4D97-AF65-F5344CB8AC3E}">
        <p14:creationId xmlns:p14="http://schemas.microsoft.com/office/powerpoint/2010/main" val="3266512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D7E683-A128-4326-363E-4CD8699FD1E1}"/>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b="1"/>
              <a:t>Word Guessing Game Overview</a:t>
            </a:r>
          </a:p>
        </p:txBody>
      </p:sp>
      <p:sp>
        <p:nvSpPr>
          <p:cNvPr id="28"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ircular jigsaw puzzle">
            <a:extLst>
              <a:ext uri="{FF2B5EF4-FFF2-40B4-BE49-F238E27FC236}">
                <a16:creationId xmlns:a16="http://schemas.microsoft.com/office/drawing/2014/main" id="{53E48696-F9FD-4350-9802-D8634E101B82}"/>
              </a:ext>
            </a:extLst>
          </p:cNvPr>
          <p:cNvPicPr>
            <a:picLocks noGrp="1" noChangeAspect="1"/>
          </p:cNvPicPr>
          <p:nvPr>
            <p:ph sz="half" idx="2"/>
          </p:nvPr>
        </p:nvPicPr>
        <p:blipFill>
          <a:blip r:embed="rId3"/>
          <a:srcRect r="33047" b="-1"/>
          <a:stretch>
            <a:fillRect/>
          </a:stretch>
        </p:blipFill>
        <p:spPr>
          <a:xfrm flipV="1">
            <a:off x="4365058" y="10"/>
            <a:ext cx="7825419"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986900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ircular jigsaw puzzle">
            <a:extLst>
              <a:ext uri="{FF2B5EF4-FFF2-40B4-BE49-F238E27FC236}">
                <a16:creationId xmlns:a16="http://schemas.microsoft.com/office/drawing/2014/main" id="{0ACA349A-F12B-4D1C-AEA2-622DF8259F78}"/>
              </a:ext>
            </a:extLst>
          </p:cNvPr>
          <p:cNvPicPr>
            <a:picLocks noGrp="1" noChangeAspect="1"/>
          </p:cNvPicPr>
          <p:nvPr>
            <p:ph sz="half" idx="1"/>
          </p:nvPr>
        </p:nvPicPr>
        <p:blipFill>
          <a:blip r:embed="rId3"/>
          <a:srcRect r="5882" b="-1"/>
          <a:stretch>
            <a:fillRect/>
          </a:stretch>
        </p:blipFill>
        <p:spPr>
          <a:xfrm>
            <a:off x="3539266" y="10"/>
            <a:ext cx="8652732" cy="6857990"/>
          </a:xfrm>
          <a:prstGeom prst="rect">
            <a:avLst/>
          </a:prstGeom>
        </p:spPr>
      </p:pic>
      <p:sp>
        <p:nvSpPr>
          <p:cNvPr id="17" name="Rectangle 1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65C320-D63F-A3D8-0307-C8B8A17EA67C}"/>
              </a:ext>
            </a:extLst>
          </p:cNvPr>
          <p:cNvSpPr>
            <a:spLocks noGrp="1"/>
          </p:cNvSpPr>
          <p:nvPr>
            <p:ph type="title"/>
          </p:nvPr>
        </p:nvSpPr>
        <p:spPr>
          <a:xfrm>
            <a:off x="838200" y="365125"/>
            <a:ext cx="3822189" cy="1899912"/>
          </a:xfrm>
        </p:spPr>
        <p:txBody>
          <a:bodyPr vert="horz" lIns="91440" tIns="45720" rIns="91440" bIns="45720" rtlCol="0" anchor="ctr">
            <a:normAutofit/>
          </a:bodyPr>
          <a:lstStyle/>
          <a:p>
            <a:r>
              <a:rPr lang="en-US" sz="4000" b="1"/>
              <a:t>Welcome to the Word Guessing Game</a:t>
            </a:r>
          </a:p>
        </p:txBody>
      </p:sp>
      <p:sp>
        <p:nvSpPr>
          <p:cNvPr id="4" name="Content Placeholder 3">
            <a:extLst>
              <a:ext uri="{FF2B5EF4-FFF2-40B4-BE49-F238E27FC236}">
                <a16:creationId xmlns:a16="http://schemas.microsoft.com/office/drawing/2014/main" id="{57786C9A-29FC-0AC4-A2C0-EBB4A583D8FB}"/>
              </a:ext>
            </a:extLst>
          </p:cNvPr>
          <p:cNvSpPr>
            <a:spLocks noGrp="1"/>
          </p:cNvSpPr>
          <p:nvPr>
            <p:ph sz="half" idx="2"/>
          </p:nvPr>
        </p:nvSpPr>
        <p:spPr>
          <a:xfrm>
            <a:off x="838200" y="2434201"/>
            <a:ext cx="3822189" cy="3742762"/>
          </a:xfrm>
        </p:spPr>
        <p:txBody>
          <a:bodyPr vert="horz" lIns="91440" tIns="45720" rIns="91440" bIns="45720" rtlCol="0">
            <a:normAutofit/>
          </a:bodyPr>
          <a:lstStyle/>
          <a:p>
            <a:r>
              <a:rPr lang="en-US" sz="2000"/>
              <a:t>An engaging and interactive word guessing challenge.</a:t>
            </a:r>
          </a:p>
          <a:p>
            <a:r>
              <a:rPr lang="en-US" sz="2000"/>
              <a:t>Test your vocabulary and deduction skills.</a:t>
            </a:r>
          </a:p>
          <a:p>
            <a:r>
              <a:rPr lang="en-US" sz="2000"/>
              <a:t>Designed for all age groups to have fun and learn.</a:t>
            </a:r>
          </a:p>
          <a:p>
            <a:r>
              <a:rPr lang="en-US" sz="2000"/>
              <a:t>Simple rules make it easy to start playing quickly.</a:t>
            </a:r>
          </a:p>
        </p:txBody>
      </p:sp>
    </p:spTree>
    <p:extLst>
      <p:ext uri="{BB962C8B-B14F-4D97-AF65-F5344CB8AC3E}">
        <p14:creationId xmlns:p14="http://schemas.microsoft.com/office/powerpoint/2010/main" val="132912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0DF40B2-80F7-4E71-B46C-284163F3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543AF6-3458-A3FC-1C7B-2E858F6DE38B}"/>
              </a:ext>
            </a:extLst>
          </p:cNvPr>
          <p:cNvSpPr>
            <a:spLocks noGrp="1"/>
          </p:cNvSpPr>
          <p:nvPr>
            <p:ph type="title"/>
          </p:nvPr>
        </p:nvSpPr>
        <p:spPr>
          <a:xfrm>
            <a:off x="838199" y="548464"/>
            <a:ext cx="3807187" cy="2228074"/>
          </a:xfrm>
        </p:spPr>
        <p:txBody>
          <a:bodyPr vert="horz" lIns="91440" tIns="45720" rIns="91440" bIns="45720" rtlCol="0" anchor="ctr">
            <a:normAutofit/>
          </a:bodyPr>
          <a:lstStyle/>
          <a:p>
            <a:r>
              <a:rPr lang="en-US" sz="4000" b="1"/>
              <a:t>How to Play the Game</a:t>
            </a:r>
          </a:p>
        </p:txBody>
      </p:sp>
      <p:sp>
        <p:nvSpPr>
          <p:cNvPr id="4" name="Content Placeholder 3">
            <a:extLst>
              <a:ext uri="{FF2B5EF4-FFF2-40B4-BE49-F238E27FC236}">
                <a16:creationId xmlns:a16="http://schemas.microsoft.com/office/drawing/2014/main" id="{5728F135-4321-C0F4-D770-3574EF747FEA}"/>
              </a:ext>
            </a:extLst>
          </p:cNvPr>
          <p:cNvSpPr>
            <a:spLocks noGrp="1"/>
          </p:cNvSpPr>
          <p:nvPr>
            <p:ph sz="half" idx="2"/>
          </p:nvPr>
        </p:nvSpPr>
        <p:spPr>
          <a:xfrm>
            <a:off x="838201" y="2990626"/>
            <a:ext cx="3799425" cy="3114894"/>
          </a:xfrm>
        </p:spPr>
        <p:txBody>
          <a:bodyPr vert="horz" lIns="91440" tIns="45720" rIns="91440" bIns="45720" rtlCol="0">
            <a:normAutofit/>
          </a:bodyPr>
          <a:lstStyle/>
          <a:p>
            <a:r>
              <a:rPr lang="en-US" sz="2000"/>
              <a:t>Players try to guess a hidden word letter by letter.</a:t>
            </a:r>
          </a:p>
          <a:p>
            <a:r>
              <a:rPr lang="en-US" sz="2000"/>
              <a:t>Each correct guess reveals the letter's position(s).</a:t>
            </a:r>
          </a:p>
          <a:p>
            <a:r>
              <a:rPr lang="en-US" sz="2000"/>
              <a:t>Incorrect guesses reduce the number of attempts left.</a:t>
            </a:r>
          </a:p>
          <a:p>
            <a:r>
              <a:rPr lang="en-US" sz="2000"/>
              <a:t>The goal is to guess the word before running out of attempts.</a:t>
            </a:r>
          </a:p>
        </p:txBody>
      </p:sp>
      <p:pic>
        <p:nvPicPr>
          <p:cNvPr id="5" name="Content Placeholder 4" descr="White alphabet letters placed flat and stacked">
            <a:extLst>
              <a:ext uri="{FF2B5EF4-FFF2-40B4-BE49-F238E27FC236}">
                <a16:creationId xmlns:a16="http://schemas.microsoft.com/office/drawing/2014/main" id="{BDEBCE58-CD18-402F-A7E9-AEA12428EFAD}"/>
              </a:ext>
            </a:extLst>
          </p:cNvPr>
          <p:cNvPicPr>
            <a:picLocks noGrp="1" noChangeAspect="1"/>
          </p:cNvPicPr>
          <p:nvPr>
            <p:ph sz="half" idx="1"/>
          </p:nvPr>
        </p:nvPicPr>
        <p:blipFill>
          <a:blip r:embed="rId3"/>
          <a:srcRect r="30099" b="-1"/>
          <a:stretch>
            <a:fillRect/>
          </a:stretch>
        </p:blipFill>
        <p:spPr>
          <a:xfrm>
            <a:off x="5010386" y="10"/>
            <a:ext cx="7181613" cy="6857990"/>
          </a:xfrm>
          <a:prstGeom prst="rect">
            <a:avLst/>
          </a:prstGeom>
          <a:effectLst/>
        </p:spPr>
      </p:pic>
    </p:spTree>
    <p:extLst>
      <p:ext uri="{BB962C8B-B14F-4D97-AF65-F5344CB8AC3E}">
        <p14:creationId xmlns:p14="http://schemas.microsoft.com/office/powerpoint/2010/main" val="2528394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erson with idea concept">
            <a:extLst>
              <a:ext uri="{FF2B5EF4-FFF2-40B4-BE49-F238E27FC236}">
                <a16:creationId xmlns:a16="http://schemas.microsoft.com/office/drawing/2014/main" id="{3281AB3B-2C2E-4899-9364-6248E3869823}"/>
              </a:ext>
            </a:extLst>
          </p:cNvPr>
          <p:cNvPicPr>
            <a:picLocks noGrp="1" noChangeAspect="1"/>
          </p:cNvPicPr>
          <p:nvPr>
            <p:ph sz="half" idx="1"/>
          </p:nvPr>
        </p:nvPicPr>
        <p:blipFill>
          <a:blip r:embed="rId3"/>
          <a:srcRect l="5884" r="-1" b="-1"/>
          <a:stretch>
            <a:fillRect/>
          </a:stretch>
        </p:blipFill>
        <p:spPr>
          <a:xfrm>
            <a:off x="2522356" y="10"/>
            <a:ext cx="9669642" cy="6857990"/>
          </a:xfrm>
          <a:prstGeom prst="rect">
            <a:avLst/>
          </a:prstGeom>
        </p:spPr>
      </p:pic>
      <p:sp>
        <p:nvSpPr>
          <p:cNvPr id="17" name="Rectangle 1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D4D95-F546-FF2D-F099-012776DE805F}"/>
              </a:ext>
            </a:extLst>
          </p:cNvPr>
          <p:cNvSpPr>
            <a:spLocks noGrp="1"/>
          </p:cNvSpPr>
          <p:nvPr>
            <p:ph type="title"/>
          </p:nvPr>
        </p:nvSpPr>
        <p:spPr>
          <a:xfrm>
            <a:off x="838200" y="365125"/>
            <a:ext cx="3822189" cy="1899912"/>
          </a:xfrm>
        </p:spPr>
        <p:txBody>
          <a:bodyPr vert="horz" lIns="91440" tIns="45720" rIns="91440" bIns="45720" rtlCol="0" anchor="ctr">
            <a:normAutofit/>
          </a:bodyPr>
          <a:lstStyle/>
          <a:p>
            <a:r>
              <a:rPr lang="en-US" sz="4000" b="1"/>
              <a:t>Game Features and Benefits</a:t>
            </a:r>
          </a:p>
        </p:txBody>
      </p:sp>
      <p:sp>
        <p:nvSpPr>
          <p:cNvPr id="4" name="Content Placeholder 3">
            <a:extLst>
              <a:ext uri="{FF2B5EF4-FFF2-40B4-BE49-F238E27FC236}">
                <a16:creationId xmlns:a16="http://schemas.microsoft.com/office/drawing/2014/main" id="{D25AE321-983C-7CED-0DA8-33D778A64288}"/>
              </a:ext>
            </a:extLst>
          </p:cNvPr>
          <p:cNvSpPr>
            <a:spLocks noGrp="1"/>
          </p:cNvSpPr>
          <p:nvPr>
            <p:ph sz="half" idx="2"/>
          </p:nvPr>
        </p:nvSpPr>
        <p:spPr>
          <a:xfrm>
            <a:off x="838200" y="2434201"/>
            <a:ext cx="3822189" cy="3742762"/>
          </a:xfrm>
        </p:spPr>
        <p:txBody>
          <a:bodyPr vert="horz" lIns="91440" tIns="45720" rIns="91440" bIns="45720" rtlCol="0">
            <a:normAutofit/>
          </a:bodyPr>
          <a:lstStyle/>
          <a:p>
            <a:r>
              <a:rPr lang="en-US" sz="2000"/>
              <a:t>Enhances vocabulary and spelling skills.</a:t>
            </a:r>
          </a:p>
          <a:p>
            <a:r>
              <a:rPr lang="en-US" sz="2000"/>
              <a:t>Improves problem-solving and critical thinking.</a:t>
            </a:r>
          </a:p>
          <a:p>
            <a:r>
              <a:rPr lang="en-US" sz="2000"/>
              <a:t>Offers different difficulty levels for all players.</a:t>
            </a:r>
          </a:p>
          <a:p>
            <a:r>
              <a:rPr lang="en-US" sz="2000"/>
              <a:t>Encourages friendly competition and social interaction.</a:t>
            </a:r>
          </a:p>
        </p:txBody>
      </p:sp>
    </p:spTree>
    <p:extLst>
      <p:ext uri="{BB962C8B-B14F-4D97-AF65-F5344CB8AC3E}">
        <p14:creationId xmlns:p14="http://schemas.microsoft.com/office/powerpoint/2010/main" val="4028161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BCCCEB-6143-DCB5-685F-BEE3109E47D1}"/>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000" b="1"/>
              <a:t>Getting Started with the Game</a:t>
            </a:r>
          </a:p>
        </p:txBody>
      </p:sp>
      <p:sp>
        <p:nvSpPr>
          <p:cNvPr id="1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8FE07B6F-43CD-7073-C31F-50D24CC9839D}"/>
              </a:ext>
            </a:extLst>
          </p:cNvPr>
          <p:cNvSpPr>
            <a:spLocks noGrp="1"/>
          </p:cNvSpPr>
          <p:nvPr>
            <p:ph sz="half" idx="2"/>
          </p:nvPr>
        </p:nvSpPr>
        <p:spPr>
          <a:xfrm>
            <a:off x="640080" y="2872899"/>
            <a:ext cx="4243589" cy="3320668"/>
          </a:xfrm>
        </p:spPr>
        <p:txBody>
          <a:bodyPr vert="horz" lIns="91440" tIns="45720" rIns="91440" bIns="45720" rtlCol="0">
            <a:normAutofit/>
          </a:bodyPr>
          <a:lstStyle/>
          <a:p>
            <a:r>
              <a:rPr lang="en-US" sz="2200"/>
              <a:t>Choose your difficulty level to match your skill.</a:t>
            </a:r>
          </a:p>
          <a:p>
            <a:r>
              <a:rPr lang="en-US" sz="2200"/>
              <a:t>Select a game mode: solo or multiplayer.</a:t>
            </a:r>
          </a:p>
          <a:p>
            <a:r>
              <a:rPr lang="en-US" sz="2200"/>
              <a:t>Start guessing letters and enjoy the challenge.</a:t>
            </a:r>
          </a:p>
          <a:p>
            <a:r>
              <a:rPr lang="en-US" sz="2200"/>
              <a:t>Keep track of scores and try to improve each time.</a:t>
            </a:r>
          </a:p>
        </p:txBody>
      </p:sp>
      <p:pic>
        <p:nvPicPr>
          <p:cNvPr id="5" name="Content Placeholder 4" descr="Game controller">
            <a:extLst>
              <a:ext uri="{FF2B5EF4-FFF2-40B4-BE49-F238E27FC236}">
                <a16:creationId xmlns:a16="http://schemas.microsoft.com/office/drawing/2014/main" id="{2665F8FD-893E-44D4-AD2B-68605E6BAB45}"/>
              </a:ext>
            </a:extLst>
          </p:cNvPr>
          <p:cNvPicPr>
            <a:picLocks noGrp="1" noChangeAspect="1"/>
          </p:cNvPicPr>
          <p:nvPr>
            <p:ph sz="half" idx="1"/>
          </p:nvPr>
        </p:nvPicPr>
        <p:blipFill>
          <a:blip r:embed="rId3"/>
          <a:srcRect l="21470" r="7565"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638326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C40EB-B01F-F765-2F80-2D6F91A7435C}"/>
              </a:ext>
            </a:extLst>
          </p:cNvPr>
          <p:cNvSpPr>
            <a:spLocks noGrp="1"/>
          </p:cNvSpPr>
          <p:nvPr>
            <p:ph type="title"/>
          </p:nvPr>
        </p:nvSpPr>
        <p:spPr>
          <a:xfrm>
            <a:off x="6096000" y="741391"/>
            <a:ext cx="5211301" cy="1616203"/>
          </a:xfrm>
        </p:spPr>
        <p:txBody>
          <a:bodyPr vert="horz" lIns="91440" tIns="45720" rIns="91440" bIns="45720" rtlCol="0" anchor="b">
            <a:normAutofit/>
          </a:bodyPr>
          <a:lstStyle/>
          <a:p>
            <a:r>
              <a:rPr lang="en-US" sz="3200" b="1" kern="1200">
                <a:solidFill>
                  <a:schemeClr val="tx1"/>
                </a:solidFill>
                <a:latin typeface="+mj-lt"/>
                <a:ea typeface="+mj-ea"/>
                <a:cs typeface="+mj-cs"/>
              </a:rPr>
              <a:t>Using Structures in the Word Guessing Game</a:t>
            </a:r>
          </a:p>
        </p:txBody>
      </p:sp>
      <p:pic>
        <p:nvPicPr>
          <p:cNvPr id="5" name="Content Placeholder 4" descr="A network formed by white dots">
            <a:extLst>
              <a:ext uri="{FF2B5EF4-FFF2-40B4-BE49-F238E27FC236}">
                <a16:creationId xmlns:a16="http://schemas.microsoft.com/office/drawing/2014/main" id="{E7E35EF3-3781-4239-BA45-C6B44A63E530}"/>
              </a:ext>
            </a:extLst>
          </p:cNvPr>
          <p:cNvPicPr>
            <a:picLocks noGrp="1" noChangeAspect="1"/>
          </p:cNvPicPr>
          <p:nvPr>
            <p:ph sz="half" idx="1"/>
          </p:nvPr>
        </p:nvPicPr>
        <p:blipFill>
          <a:blip r:embed="rId3"/>
          <a:srcRect t="4046" r="1" b="13369"/>
          <a:stretch>
            <a:fillRect/>
          </a:stretch>
        </p:blipFill>
        <p:spPr>
          <a:xfrm>
            <a:off x="20" y="-18829"/>
            <a:ext cx="5433960" cy="3455514"/>
          </a:xfrm>
          <a:prstGeom prst="rect">
            <a:avLst/>
          </a:prstGeom>
        </p:spPr>
      </p:pic>
      <p:pic>
        <p:nvPicPr>
          <p:cNvPr id="6" name="Picture 5">
            <a:extLst>
              <a:ext uri="{FF2B5EF4-FFF2-40B4-BE49-F238E27FC236}">
                <a16:creationId xmlns:a16="http://schemas.microsoft.com/office/drawing/2014/main" id="{597BF440-76F9-0580-AA51-15DC27F8DBF1}"/>
              </a:ext>
            </a:extLst>
          </p:cNvPr>
          <p:cNvPicPr>
            <a:picLocks noChangeAspect="1"/>
          </p:cNvPicPr>
          <p:nvPr/>
        </p:nvPicPr>
        <p:blipFill>
          <a:blip r:embed="rId4">
            <a:extLst>
              <a:ext uri="{28A0092B-C50C-407E-A947-70E740481C1C}">
                <a14:useLocalDpi xmlns:a14="http://schemas.microsoft.com/office/drawing/2010/main" val="0"/>
              </a:ext>
            </a:extLst>
          </a:blip>
          <a:srcRect r="1" b="4945"/>
          <a:stretch>
            <a:fillRect/>
          </a:stretch>
        </p:blipFill>
        <p:spPr>
          <a:xfrm>
            <a:off x="20" y="3421856"/>
            <a:ext cx="5433962" cy="3447832"/>
          </a:xfrm>
          <a:prstGeom prst="rect">
            <a:avLst/>
          </a:prstGeom>
        </p:spPr>
      </p:pic>
      <p:grpSp>
        <p:nvGrpSpPr>
          <p:cNvPr id="51" name="Group 50">
            <a:extLst>
              <a:ext uri="{FF2B5EF4-FFF2-40B4-BE49-F238E27FC236}">
                <a16:creationId xmlns:a16="http://schemas.microsoft.com/office/drawing/2014/main" id="{923615DC-F5A3-677C-DB79-DA387F11FC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23" name="Rectangle 22">
              <a:extLst>
                <a:ext uri="{FF2B5EF4-FFF2-40B4-BE49-F238E27FC236}">
                  <a16:creationId xmlns:a16="http://schemas.microsoft.com/office/drawing/2014/main" id="{BCB2E658-9767-8805-2BCB-63F4F3AEC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EA709A9-EE8C-7D2E-43D2-E8A342BA03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Content Placeholder 3">
            <a:extLst>
              <a:ext uri="{FF2B5EF4-FFF2-40B4-BE49-F238E27FC236}">
                <a16:creationId xmlns:a16="http://schemas.microsoft.com/office/drawing/2014/main" id="{1F4590A0-3640-67DA-B65C-B439B11EB9BC}"/>
              </a:ext>
            </a:extLst>
          </p:cNvPr>
          <p:cNvSpPr>
            <a:spLocks noGrp="1"/>
          </p:cNvSpPr>
          <p:nvPr>
            <p:ph sz="half" idx="2"/>
          </p:nvPr>
        </p:nvSpPr>
        <p:spPr>
          <a:xfrm>
            <a:off x="6095999" y="2533476"/>
            <a:ext cx="5211301" cy="3447832"/>
          </a:xfrm>
        </p:spPr>
        <p:txBody>
          <a:bodyPr vert="horz" lIns="91440" tIns="45720" rIns="91440" bIns="45720" rtlCol="0" anchor="t">
            <a:normAutofit/>
          </a:bodyPr>
          <a:lstStyle/>
          <a:p>
            <a:r>
              <a:rPr lang="en-US" sz="2000"/>
              <a:t>Structures organize related game data into meaningful groups.</a:t>
            </a:r>
          </a:p>
          <a:p>
            <a:r>
              <a:rPr lang="en-US" sz="2000"/>
              <a:t>Store word, guessed letters, attempts, and game status together.</a:t>
            </a:r>
          </a:p>
          <a:p>
            <a:r>
              <a:rPr lang="en-US" sz="2000"/>
              <a:t>Facilitates easy management and passing of game data.</a:t>
            </a:r>
          </a:p>
          <a:p>
            <a:r>
              <a:rPr lang="en-US" sz="2000"/>
              <a:t>Improves code clarity and maintainability.</a:t>
            </a:r>
          </a:p>
        </p:txBody>
      </p:sp>
    </p:spTree>
    <p:extLst>
      <p:ext uri="{BB962C8B-B14F-4D97-AF65-F5344CB8AC3E}">
        <p14:creationId xmlns:p14="http://schemas.microsoft.com/office/powerpoint/2010/main" val="3908775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57C95B-106D-0451-6C4B-86B188293189}"/>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Pointers for Dynamic Data Handling</a:t>
            </a:r>
          </a:p>
        </p:txBody>
      </p:sp>
      <p:sp>
        <p:nvSpPr>
          <p:cNvPr id="4" name="Content Placeholder 3">
            <a:extLst>
              <a:ext uri="{FF2B5EF4-FFF2-40B4-BE49-F238E27FC236}">
                <a16:creationId xmlns:a16="http://schemas.microsoft.com/office/drawing/2014/main" id="{B7A04225-44BD-7233-AF86-C276D516CA80}"/>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20000"/>
              </a:lnSpc>
            </a:pPr>
            <a:r>
              <a:rPr lang="en-US" sz="1800"/>
              <a:t>Pointers enable dynamic memory allocation for variable-length words.</a:t>
            </a:r>
          </a:p>
          <a:p>
            <a:pPr>
              <a:lnSpc>
                <a:spcPct val="120000"/>
              </a:lnSpc>
            </a:pPr>
            <a:r>
              <a:rPr lang="en-US" sz="1800"/>
              <a:t>Used to access and modify characters in the secret word.</a:t>
            </a:r>
          </a:p>
          <a:p>
            <a:pPr>
              <a:lnSpc>
                <a:spcPct val="120000"/>
              </a:lnSpc>
            </a:pPr>
            <a:r>
              <a:rPr lang="en-US" sz="1800"/>
              <a:t>Efficiently handle strings and arrays in the game.</a:t>
            </a:r>
          </a:p>
          <a:p>
            <a:pPr>
              <a:lnSpc>
                <a:spcPct val="120000"/>
              </a:lnSpc>
            </a:pPr>
            <a:r>
              <a:rPr lang="en-US" sz="1800"/>
              <a:t>Essential for passing game data between functions.</a:t>
            </a:r>
          </a:p>
        </p:txBody>
      </p:sp>
      <p:sp>
        <p:nvSpPr>
          <p:cNvPr id="6" name="Content Placeholder 5">
            <a:extLst>
              <a:ext uri="{FF2B5EF4-FFF2-40B4-BE49-F238E27FC236}">
                <a16:creationId xmlns:a16="http://schemas.microsoft.com/office/drawing/2014/main" id="{8739B056-57B1-271B-568C-93068BC1D07B}"/>
              </a:ext>
            </a:extLst>
          </p:cNvPr>
          <p:cNvSpPr>
            <a:spLocks noGrp="1"/>
          </p:cNvSpPr>
          <p:nvPr>
            <p:ph sz="half" idx="1"/>
          </p:nvPr>
        </p:nvSpPr>
        <p:spPr>
          <a:xfrm>
            <a:off x="838200" y="2475651"/>
            <a:ext cx="5181600" cy="3701312"/>
          </a:xfrm>
        </p:spPr>
        <p:txBody>
          <a:bodyPr/>
          <a:lstStyle/>
          <a:p>
            <a:pPr marL="0" indent="0">
              <a:buNone/>
            </a:pPr>
            <a:r>
              <a:rPr lang="en-IN"/>
              <a:t>.</a:t>
            </a:r>
          </a:p>
        </p:txBody>
      </p:sp>
      <p:pic>
        <p:nvPicPr>
          <p:cNvPr id="11" name="Picture 10">
            <a:extLst>
              <a:ext uri="{FF2B5EF4-FFF2-40B4-BE49-F238E27FC236}">
                <a16:creationId xmlns:a16="http://schemas.microsoft.com/office/drawing/2014/main" id="{8814F412-7512-96BD-31E4-C6DF5D38D6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9752" y="0"/>
            <a:ext cx="6732248" cy="6858000"/>
          </a:xfrm>
          <a:prstGeom prst="rect">
            <a:avLst/>
          </a:prstGeom>
        </p:spPr>
      </p:pic>
    </p:spTree>
    <p:extLst>
      <p:ext uri="{BB962C8B-B14F-4D97-AF65-F5344CB8AC3E}">
        <p14:creationId xmlns:p14="http://schemas.microsoft.com/office/powerpoint/2010/main" val="3587684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101010 data lines to infinity">
            <a:extLst>
              <a:ext uri="{FF2B5EF4-FFF2-40B4-BE49-F238E27FC236}">
                <a16:creationId xmlns:a16="http://schemas.microsoft.com/office/drawing/2014/main" id="{3AC86A5F-3DE8-4F91-B442-6CD460E10F78}"/>
              </a:ext>
            </a:extLst>
          </p:cNvPr>
          <p:cNvPicPr>
            <a:picLocks noGrp="1" noChangeAspect="1"/>
          </p:cNvPicPr>
          <p:nvPr>
            <p:ph sz="half" idx="1"/>
          </p:nvPr>
        </p:nvPicPr>
        <p:blipFill>
          <a:blip r:embed="rId3"/>
          <a:srcRect l="6304" r="2400" b="1"/>
          <a:stretch>
            <a:fillRect/>
          </a:stretch>
        </p:blipFill>
        <p:spPr>
          <a:xfrm>
            <a:off x="2522356" y="10"/>
            <a:ext cx="9669642" cy="6857990"/>
          </a:xfrm>
          <a:prstGeom prst="rect">
            <a:avLst/>
          </a:prstGeom>
        </p:spPr>
      </p:pic>
      <p:sp>
        <p:nvSpPr>
          <p:cNvPr id="17" name="Rectangle 1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D2219D-1E50-24FF-4693-846E5AE98E81}"/>
              </a:ext>
            </a:extLst>
          </p:cNvPr>
          <p:cNvSpPr>
            <a:spLocks noGrp="1"/>
          </p:cNvSpPr>
          <p:nvPr>
            <p:ph type="title"/>
          </p:nvPr>
        </p:nvSpPr>
        <p:spPr>
          <a:xfrm>
            <a:off x="838200" y="365125"/>
            <a:ext cx="3822189" cy="1899912"/>
          </a:xfrm>
        </p:spPr>
        <p:txBody>
          <a:bodyPr vert="horz" lIns="91440" tIns="45720" rIns="91440" bIns="45720" rtlCol="0" anchor="ctr">
            <a:normAutofit/>
          </a:bodyPr>
          <a:lstStyle/>
          <a:p>
            <a:r>
              <a:rPr lang="en-US" sz="3700" b="1"/>
              <a:t>How Loops Enhance the Word Guessing Game</a:t>
            </a:r>
          </a:p>
        </p:txBody>
      </p:sp>
      <p:sp>
        <p:nvSpPr>
          <p:cNvPr id="4" name="Content Placeholder 3">
            <a:extLst>
              <a:ext uri="{FF2B5EF4-FFF2-40B4-BE49-F238E27FC236}">
                <a16:creationId xmlns:a16="http://schemas.microsoft.com/office/drawing/2014/main" id="{784D32D7-E57E-0EC0-1748-822354C3521E}"/>
              </a:ext>
            </a:extLst>
          </p:cNvPr>
          <p:cNvSpPr>
            <a:spLocks noGrp="1"/>
          </p:cNvSpPr>
          <p:nvPr>
            <p:ph sz="half" idx="2"/>
          </p:nvPr>
        </p:nvSpPr>
        <p:spPr>
          <a:xfrm>
            <a:off x="838200" y="2434201"/>
            <a:ext cx="3822189" cy="3742762"/>
          </a:xfrm>
        </p:spPr>
        <p:txBody>
          <a:bodyPr vert="horz" lIns="91440" tIns="45720" rIns="91440" bIns="45720" rtlCol="0">
            <a:normAutofit/>
          </a:bodyPr>
          <a:lstStyle/>
          <a:p>
            <a:r>
              <a:rPr lang="en-US" sz="1700"/>
              <a:t>Loops allow repeated guessing attempts until word is guessed or tries are exhausted.</a:t>
            </a:r>
          </a:p>
          <a:p>
            <a:r>
              <a:rPr lang="en-US" sz="1700"/>
              <a:t>For loops iterate over each character to check if guessed letter matches.</a:t>
            </a:r>
          </a:p>
          <a:p>
            <a:r>
              <a:rPr lang="en-US" sz="1700"/>
              <a:t>While loops control the game flow based on remaining attempts.</a:t>
            </a:r>
          </a:p>
          <a:p>
            <a:r>
              <a:rPr lang="en-US" sz="1700"/>
              <a:t>Loops simplify input validation and updating game state dynamically.</a:t>
            </a:r>
          </a:p>
          <a:p>
            <a:r>
              <a:rPr lang="en-US" sz="1700"/>
              <a:t>They enable efficient processing of player inputs and word progress.</a:t>
            </a:r>
          </a:p>
        </p:txBody>
      </p:sp>
    </p:spTree>
    <p:extLst>
      <p:ext uri="{BB962C8B-B14F-4D97-AF65-F5344CB8AC3E}">
        <p14:creationId xmlns:p14="http://schemas.microsoft.com/office/powerpoint/2010/main" val="2274210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EDC0FA-19CE-CC82-889B-CFDFA4DF9246}"/>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sz="3600" b="1" kern="1200">
                <a:solidFill>
                  <a:schemeClr val="tx1"/>
                </a:solidFill>
                <a:latin typeface="+mj-lt"/>
                <a:ea typeface="+mj-ea"/>
                <a:cs typeface="+mj-cs"/>
              </a:rPr>
              <a:t>Role of Arrays in Word Games</a:t>
            </a:r>
          </a:p>
        </p:txBody>
      </p:sp>
      <p:sp>
        <p:nvSpPr>
          <p:cNvPr id="4" name="Content Placeholder 3">
            <a:extLst>
              <a:ext uri="{FF2B5EF4-FFF2-40B4-BE49-F238E27FC236}">
                <a16:creationId xmlns:a16="http://schemas.microsoft.com/office/drawing/2014/main" id="{4AF3D04D-600E-2ADB-DB09-76EAFC748AA1}"/>
              </a:ext>
            </a:extLst>
          </p:cNvPr>
          <p:cNvSpPr>
            <a:spLocks noGrp="1"/>
          </p:cNvSpPr>
          <p:nvPr>
            <p:ph sz="half" idx="2"/>
          </p:nvPr>
        </p:nvSpPr>
        <p:spPr>
          <a:xfrm>
            <a:off x="612647" y="2212848"/>
            <a:ext cx="4361687" cy="4096512"/>
          </a:xfrm>
        </p:spPr>
        <p:txBody>
          <a:bodyPr vert="horz" lIns="91440" tIns="45720" rIns="91440" bIns="45720" rtlCol="0">
            <a:normAutofit/>
          </a:bodyPr>
          <a:lstStyle/>
          <a:p>
            <a:pPr>
              <a:lnSpc>
                <a:spcPct val="120000"/>
              </a:lnSpc>
            </a:pPr>
            <a:r>
              <a:rPr lang="en-US" sz="1800"/>
              <a:t>Arrays store letters making up the secret word efficiently.</a:t>
            </a:r>
          </a:p>
          <a:p>
            <a:pPr>
              <a:lnSpc>
                <a:spcPct val="120000"/>
              </a:lnSpc>
            </a:pPr>
            <a:r>
              <a:rPr lang="en-US" sz="1800"/>
              <a:t>Enable easy checking and updating of guessed letters.</a:t>
            </a:r>
          </a:p>
          <a:p>
            <a:pPr>
              <a:lnSpc>
                <a:spcPct val="120000"/>
              </a:lnSpc>
            </a:pPr>
            <a:r>
              <a:rPr lang="en-US" sz="1800"/>
              <a:t>Support dynamic word length handling in various difficulty levels.</a:t>
            </a:r>
          </a:p>
          <a:p>
            <a:pPr>
              <a:lnSpc>
                <a:spcPct val="120000"/>
              </a:lnSpc>
            </a:pPr>
            <a:r>
              <a:rPr lang="en-US" sz="1800"/>
              <a:t>Facilitate iteration to reveal correct guesses sequentially.</a:t>
            </a:r>
          </a:p>
          <a:p>
            <a:pPr>
              <a:lnSpc>
                <a:spcPct val="120000"/>
              </a:lnSpc>
            </a:pPr>
            <a:r>
              <a:rPr lang="en-US" sz="1800"/>
              <a:t>Simplify management of player inputs and game progress.</a:t>
            </a:r>
          </a:p>
        </p:txBody>
      </p:sp>
      <p:sp>
        <p:nvSpPr>
          <p:cNvPr id="6" name="Content Placeholder 5">
            <a:extLst>
              <a:ext uri="{FF2B5EF4-FFF2-40B4-BE49-F238E27FC236}">
                <a16:creationId xmlns:a16="http://schemas.microsoft.com/office/drawing/2014/main" id="{BB7F0E15-99AF-F736-FFDC-77C112E05F32}"/>
              </a:ext>
            </a:extLst>
          </p:cNvPr>
          <p:cNvSpPr>
            <a:spLocks noGrp="1"/>
          </p:cNvSpPr>
          <p:nvPr>
            <p:ph sz="half" idx="1"/>
          </p:nvPr>
        </p:nvSpPr>
        <p:spPr/>
        <p:txBody>
          <a:bodyPr/>
          <a:lstStyle/>
          <a:p>
            <a:r>
              <a:rPr lang="en-IN"/>
              <a:t>.</a:t>
            </a:r>
          </a:p>
        </p:txBody>
      </p:sp>
      <p:pic>
        <p:nvPicPr>
          <p:cNvPr id="8" name="Picture 7">
            <a:extLst>
              <a:ext uri="{FF2B5EF4-FFF2-40B4-BE49-F238E27FC236}">
                <a16:creationId xmlns:a16="http://schemas.microsoft.com/office/drawing/2014/main" id="{0022F43D-6D7B-555A-1959-BAB6DE430C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3228" y="0"/>
            <a:ext cx="6498772" cy="6858000"/>
          </a:xfrm>
          <a:prstGeom prst="rect">
            <a:avLst/>
          </a:prstGeom>
        </p:spPr>
      </p:pic>
    </p:spTree>
    <p:extLst>
      <p:ext uri="{BB962C8B-B14F-4D97-AF65-F5344CB8AC3E}">
        <p14:creationId xmlns:p14="http://schemas.microsoft.com/office/powerpoint/2010/main" val="4120726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4A9EA18-9911-48FC-43D1-D1E515C263EB}"/>
              </a:ext>
            </a:extLst>
          </p:cNvPr>
          <p:cNvPicPr>
            <a:picLocks noChangeAspect="1"/>
          </p:cNvPicPr>
          <p:nvPr/>
        </p:nvPicPr>
        <p:blipFill>
          <a:blip r:embed="rId2">
            <a:extLst>
              <a:ext uri="{28A0092B-C50C-407E-A947-70E740481C1C}">
                <a14:useLocalDpi xmlns:a14="http://schemas.microsoft.com/office/drawing/2010/main" val="0"/>
              </a:ext>
            </a:extLst>
          </a:blip>
          <a:srcRect r="121" b="1"/>
          <a:stretch>
            <a:fillRect/>
          </a:stretch>
        </p:blipFill>
        <p:spPr>
          <a:xfrm>
            <a:off x="20" y="10"/>
            <a:ext cx="12191980" cy="6866290"/>
          </a:xfrm>
          <a:prstGeom prst="rect">
            <a:avLst/>
          </a:prstGeom>
        </p:spPr>
      </p:pic>
      <p:sp>
        <p:nvSpPr>
          <p:cNvPr id="5" name="TextBox 4">
            <a:extLst>
              <a:ext uri="{FF2B5EF4-FFF2-40B4-BE49-F238E27FC236}">
                <a16:creationId xmlns:a16="http://schemas.microsoft.com/office/drawing/2014/main" id="{F7CEF5DB-3360-5C70-3FBE-84DE419E3C20}"/>
              </a:ext>
            </a:extLst>
          </p:cNvPr>
          <p:cNvSpPr txBox="1"/>
          <p:nvPr/>
        </p:nvSpPr>
        <p:spPr>
          <a:xfrm>
            <a:off x="6008894" y="5147241"/>
            <a:ext cx="6183086" cy="1477328"/>
          </a:xfrm>
          <a:prstGeom prst="rect">
            <a:avLst/>
          </a:prstGeom>
          <a:noFill/>
        </p:spPr>
        <p:txBody>
          <a:bodyPr wrap="square">
            <a:spAutoFit/>
          </a:bodyPr>
          <a:lstStyle/>
          <a:p>
            <a:r>
              <a:rPr lang="en-IN">
                <a:solidFill>
                  <a:srgbClr val="FFFF00"/>
                </a:solidFill>
                <a:latin typeface="Amasis MT Pro Black" panose="020F0502020204030204" pitchFamily="18" charset="0"/>
                <a:cs typeface="Aldhabi" panose="020F0502020204030204" pitchFamily="2" charset="-78"/>
              </a:rPr>
              <a:t>Team Members:</a:t>
            </a:r>
          </a:p>
          <a:p>
            <a:r>
              <a:rPr lang="en-IN">
                <a:solidFill>
                  <a:srgbClr val="FFFF00"/>
                </a:solidFill>
                <a:latin typeface="Amasis MT Pro Black" panose="020F0502020204030204" pitchFamily="18" charset="0"/>
                <a:cs typeface="Aldhabi" panose="020F0502020204030204" pitchFamily="2" charset="-78"/>
              </a:rPr>
              <a:t>K Nandini(25A31A04D7)</a:t>
            </a:r>
          </a:p>
          <a:p>
            <a:r>
              <a:rPr lang="en-IN">
                <a:solidFill>
                  <a:srgbClr val="FFFF00"/>
                </a:solidFill>
                <a:latin typeface="Amasis MT Pro Black" panose="020F0502020204030204" pitchFamily="18" charset="0"/>
                <a:cs typeface="Aldhabi" panose="020F0502020204030204" pitchFamily="2" charset="-78"/>
              </a:rPr>
              <a:t>K Greeshma(25A31A04D8)</a:t>
            </a:r>
          </a:p>
          <a:p>
            <a:r>
              <a:rPr lang="en-IN">
                <a:solidFill>
                  <a:srgbClr val="FFFF00"/>
                </a:solidFill>
                <a:latin typeface="Amasis MT Pro Black" panose="020F0502020204030204" pitchFamily="18" charset="0"/>
                <a:cs typeface="Aldhabi" panose="020F0502020204030204" pitchFamily="2" charset="-78"/>
              </a:rPr>
              <a:t>D Varun (25A31A04G8)</a:t>
            </a:r>
          </a:p>
          <a:p>
            <a:r>
              <a:rPr lang="en-IN">
                <a:solidFill>
                  <a:srgbClr val="FFFF00"/>
                </a:solidFill>
                <a:latin typeface="Amasis MT Pro Black" panose="020F0502020204030204" pitchFamily="18" charset="0"/>
                <a:cs typeface="Aldhabi" panose="020F0502020204030204" pitchFamily="2" charset="-78"/>
              </a:rPr>
              <a:t>G </a:t>
            </a:r>
            <a:r>
              <a:rPr lang="en-IN" err="1">
                <a:solidFill>
                  <a:srgbClr val="FFFF00"/>
                </a:solidFill>
                <a:latin typeface="Amasis MT Pro Black" panose="020F0502020204030204" pitchFamily="18" charset="0"/>
                <a:cs typeface="Aldhabi" panose="020F0502020204030204" pitchFamily="2" charset="-78"/>
              </a:rPr>
              <a:t>Manisankhar</a:t>
            </a:r>
            <a:r>
              <a:rPr lang="en-IN">
                <a:solidFill>
                  <a:srgbClr val="FFFF00"/>
                </a:solidFill>
                <a:latin typeface="Amasis MT Pro Black" panose="020F0502020204030204" pitchFamily="18" charset="0"/>
                <a:cs typeface="Aldhabi" panose="020F0502020204030204" pitchFamily="2" charset="-78"/>
              </a:rPr>
              <a:t> (25A31A04G9)</a:t>
            </a:r>
          </a:p>
        </p:txBody>
      </p:sp>
    </p:spTree>
    <p:extLst>
      <p:ext uri="{BB962C8B-B14F-4D97-AF65-F5344CB8AC3E}">
        <p14:creationId xmlns:p14="http://schemas.microsoft.com/office/powerpoint/2010/main" val="1760047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815</Words>
  <Application>Microsoft Office PowerPoint</Application>
  <PresentationFormat>Widescreen</PresentationFormat>
  <Paragraphs>68</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Amasis MT Pro Black</vt:lpstr>
      <vt:lpstr>Aptos</vt:lpstr>
      <vt:lpstr>Aptos Display</vt:lpstr>
      <vt:lpstr>Arial</vt:lpstr>
      <vt:lpstr>Office Theme</vt:lpstr>
      <vt:lpstr>Word Guessing Game Overview</vt:lpstr>
      <vt:lpstr>Welcome to the Word Guessing Game</vt:lpstr>
      <vt:lpstr>How to Play the Game</vt:lpstr>
      <vt:lpstr>Game Features and Benefits</vt:lpstr>
      <vt:lpstr>Getting Started with the Game</vt:lpstr>
      <vt:lpstr>Using Structures in the Word Guessing Game</vt:lpstr>
      <vt:lpstr>Pointers for Dynamic Data Handling</vt:lpstr>
      <vt:lpstr>How Loops Enhance the Word Guessing Game</vt:lpstr>
      <vt:lpstr>Role of Arrays in Word Games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NANDINI KANDULA</dc:creator>
  <cp:lastModifiedBy>NANDINI KANDULA</cp:lastModifiedBy>
  <cp:revision>1</cp:revision>
  <dcterms:created xsi:type="dcterms:W3CDTF">2025-12-22T12:56:43Z</dcterms:created>
  <dcterms:modified xsi:type="dcterms:W3CDTF">2025-12-22T14:04:06Z</dcterms:modified>
</cp:coreProperties>
</file>